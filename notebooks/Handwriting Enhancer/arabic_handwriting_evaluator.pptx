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B211C"/>
                </a:solidFill>
                <a:latin typeface="Calibri"/>
              </a:rPr>
              <a:t>Per-letter 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B85042"/>
            </a:solidFill>
          </c:spPr>
          <c:cat>
            <c:strRef>
              <c:f>Sheet1!$A$2:$A$30</c:f>
              <c:strCache>
                <c:ptCount val="29"/>
                <c:pt idx="0">
                  <c:v>alef</c:v>
                </c:pt>
                <c:pt idx="1">
                  <c:v>beh</c:v>
                </c:pt>
                <c:pt idx="2">
                  <c:v>teh</c:v>
                </c:pt>
                <c:pt idx="3">
                  <c:v>theh</c:v>
                </c:pt>
                <c:pt idx="4">
                  <c:v>jeem</c:v>
                </c:pt>
                <c:pt idx="5">
                  <c:v>hah</c:v>
                </c:pt>
                <c:pt idx="6">
                  <c:v>khah</c:v>
                </c:pt>
                <c:pt idx="7">
                  <c:v>dal</c:v>
                </c:pt>
                <c:pt idx="8">
                  <c:v>thal</c:v>
                </c:pt>
                <c:pt idx="9">
                  <c:v>reh</c:v>
                </c:pt>
                <c:pt idx="10">
                  <c:v>zain</c:v>
                </c:pt>
                <c:pt idx="11">
                  <c:v>seen</c:v>
                </c:pt>
                <c:pt idx="12">
                  <c:v>sheen</c:v>
                </c:pt>
                <c:pt idx="13">
                  <c:v>sad</c:v>
                </c:pt>
                <c:pt idx="14">
                  <c:v>dad</c:v>
                </c:pt>
                <c:pt idx="15">
                  <c:v>tah</c:v>
                </c:pt>
                <c:pt idx="16">
                  <c:v>zah</c:v>
                </c:pt>
                <c:pt idx="17">
                  <c:v>ain</c:v>
                </c:pt>
                <c:pt idx="18">
                  <c:v>ghain</c:v>
                </c:pt>
                <c:pt idx="19">
                  <c:v>feh</c:v>
                </c:pt>
                <c:pt idx="20">
                  <c:v>qaf</c:v>
                </c:pt>
                <c:pt idx="21">
                  <c:v>kaf</c:v>
                </c:pt>
                <c:pt idx="22">
                  <c:v>lam</c:v>
                </c:pt>
                <c:pt idx="23">
                  <c:v>meem</c:v>
                </c:pt>
                <c:pt idx="24">
                  <c:v>noon</c:v>
                </c:pt>
                <c:pt idx="25">
                  <c:v>heh</c:v>
                </c:pt>
                <c:pt idx="26">
                  <c:v>waw</c:v>
                </c:pt>
                <c:pt idx="27">
                  <c:v>yeh</c:v>
                </c:pt>
                <c:pt idx="28">
                  <c:v>hamza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98.54</c:v>
                </c:pt>
                <c:pt idx="1">
                  <c:v>96.39</c:v>
                </c:pt>
                <c:pt idx="2">
                  <c:v>92.78</c:v>
                </c:pt>
                <c:pt idx="3">
                  <c:v>95.08</c:v>
                </c:pt>
                <c:pt idx="4">
                  <c:v>95.7</c:v>
                </c:pt>
                <c:pt idx="5">
                  <c:v>89.43</c:v>
                </c:pt>
                <c:pt idx="6">
                  <c:v>92.43</c:v>
                </c:pt>
                <c:pt idx="7">
                  <c:v>82.02</c:v>
                </c:pt>
                <c:pt idx="8">
                  <c:v>80.7</c:v>
                </c:pt>
                <c:pt idx="9">
                  <c:v>92.94</c:v>
                </c:pt>
                <c:pt idx="10">
                  <c:v>94.19</c:v>
                </c:pt>
                <c:pt idx="11">
                  <c:v>97.4</c:v>
                </c:pt>
                <c:pt idx="12">
                  <c:v>97.95</c:v>
                </c:pt>
                <c:pt idx="13">
                  <c:v>91.3</c:v>
                </c:pt>
                <c:pt idx="14">
                  <c:v>93.22</c:v>
                </c:pt>
                <c:pt idx="15">
                  <c:v>94.87</c:v>
                </c:pt>
                <c:pt idx="16">
                  <c:v>97.66</c:v>
                </c:pt>
                <c:pt idx="17">
                  <c:v>87.07</c:v>
                </c:pt>
                <c:pt idx="18">
                  <c:v>87.54</c:v>
                </c:pt>
                <c:pt idx="19">
                  <c:v>87.03</c:v>
                </c:pt>
                <c:pt idx="20">
                  <c:v>93.12</c:v>
                </c:pt>
                <c:pt idx="21">
                  <c:v>94.25</c:v>
                </c:pt>
                <c:pt idx="22">
                  <c:v>93.14</c:v>
                </c:pt>
                <c:pt idx="23">
                  <c:v>92.77</c:v>
                </c:pt>
                <c:pt idx="24">
                  <c:v>88.2</c:v>
                </c:pt>
                <c:pt idx="25">
                  <c:v>90.49</c:v>
                </c:pt>
                <c:pt idx="26">
                  <c:v>94.29</c:v>
                </c:pt>
                <c:pt idx="27">
                  <c:v>96.82</c:v>
                </c:pt>
                <c:pt idx="28">
                  <c:v>90.06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7A6E6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70.0"/>
        </c:scaling>
        <c:delete val="0"/>
        <c:axPos val="l"/>
        <c:majorGridlines>
          <c:spPr>
            <a:ln w="9525">
              <a:solidFill>
                <a:srgbClr val="E2D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A6E68"/>
                </a:solidFill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141732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ب</a:t>
            </a:r>
          </a:p>
        </p:txBody>
      </p:sp>
      <p:sp>
        <p:nvSpPr>
          <p:cNvPr id="3" name="Oval 2"/>
          <p:cNvSpPr/>
          <p:nvPr/>
        </p:nvSpPr>
        <p:spPr>
          <a:xfrm>
            <a:off x="1280160" y="1417320"/>
            <a:ext cx="566928" cy="566928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211C"/>
                </a:solidFill>
                <a:latin typeface="Calibri"/>
              </a:rPr>
              <a:t>ت</a:t>
            </a:r>
          </a:p>
        </p:txBody>
      </p:sp>
      <p:sp>
        <p:nvSpPr>
          <p:cNvPr id="4" name="Oval 3"/>
          <p:cNvSpPr/>
          <p:nvPr/>
        </p:nvSpPr>
        <p:spPr>
          <a:xfrm>
            <a:off x="1993392" y="1417320"/>
            <a:ext cx="566928" cy="566928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211C"/>
                </a:solidFill>
                <a:latin typeface="Calibri"/>
              </a:rPr>
              <a:t>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8595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Arabic Handwriting</a:t>
            </a:r>
            <a:br/>
            <a:r>
              <a:rPr sz="5200" b="1" i="0">
                <a:solidFill>
                  <a:srgbClr val="FFFFFF"/>
                </a:solidFill>
                <a:latin typeface="Cambria"/>
              </a:rPr>
              <a:t>Evaluator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24528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7E8D1"/>
                </a:solidFill>
                <a:latin typeface="Calibri"/>
              </a:rPr>
              <a:t>Automated letter recognition and handwriting feedback for children aged 7–12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6460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A6E68"/>
                </a:solidFill>
                <a:latin typeface="Calibri"/>
              </a:rPr>
              <a:t>Convolutional neural network trained on the Hijja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33172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23544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92.78%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456432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E7E8D1"/>
                </a:solidFill>
                <a:latin typeface="Calibri"/>
              </a:rPr>
              <a:t>test accuracy</a:t>
            </a:r>
            <a:br/>
            <a:r>
              <a:rPr sz="1200" b="0" i="0">
                <a:solidFill>
                  <a:srgbClr val="E7E8D1"/>
                </a:solidFill>
                <a:latin typeface="Calibri"/>
              </a:rPr>
              <a:t>29 letter 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The project in six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From a child's pencil stroke to a grade and a piece of advice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48256"/>
            <a:ext cx="3465576" cy="19751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04672" y="2267712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" y="23591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11C"/>
                </a:solidFill>
                <a:latin typeface="Cambria"/>
              </a:rP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80944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Hijja: 47,434 letters handwritten by 591 children aged 7–12, covering every positional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75888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29 CLASSES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4096512" y="2916936"/>
            <a:ext cx="201168" cy="237744"/>
          </a:xfrm>
          <a:prstGeom prst="triangl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1688" y="2048256"/>
            <a:ext cx="3465576" cy="19751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99432" y="2267712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23591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11C"/>
                </a:solidFill>
                <a:latin typeface="Cambria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80944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One entry point for photos and dataset rows — a clean glyph passes straight through, a photo gets cleaned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75888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32×32 NORMALISED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7891272" y="2916936"/>
            <a:ext cx="201168" cy="237744"/>
          </a:xfrm>
          <a:prstGeom prst="triangl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6448" y="2048256"/>
            <a:ext cx="3465576" cy="19751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94192" y="2267712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3591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11C"/>
                </a:solidFill>
                <a:latin typeface="Cambria"/>
              </a:rP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980944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Stratified 90/10 train and validation; the test set is sealed until the very 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675888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34,139 / 3,794 / 9,501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61104"/>
            <a:ext cx="3465576" cy="1975104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04672" y="448056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11C"/>
                </a:solidFill>
                <a:latin typeface="Cambria"/>
              </a:rPr>
              <a:t>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93792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Six convolutional layers plus a classifier, light augmentation, 30 epochs, CPU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888736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2,048-D FEATURES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4096512" y="5129784"/>
            <a:ext cx="201168" cy="237744"/>
          </a:xfrm>
          <a:prstGeom prst="triangl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1688" y="4261104"/>
            <a:ext cx="3465576" cy="1975104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99432" y="448056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11C"/>
                </a:solidFill>
                <a:latin typeface="Cambria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5193792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Held-out accuracy, a per-letter table and a 29×29 confusion matrix to see WHICH letters fail.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888736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92.78% ACCURACY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891272" y="5129784"/>
            <a:ext cx="201168" cy="237744"/>
          </a:xfrm>
          <a:prstGeom prst="triangl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56448" y="4261104"/>
            <a:ext cx="3465576" cy="1975104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394192" y="448056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211C"/>
                </a:solidFill>
                <a:latin typeface="Cambria"/>
              </a:rPr>
              <a:t>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5193792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Grade a photograph against the letter the child was asked to write, then coach the child and the teacher.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888736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3 GRADE TIERS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What the system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From a photo of a letter on paper to coaching a child can act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57400"/>
            <a:ext cx="3529584" cy="269748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9536" y="237744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2461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211C"/>
                </a:solidFill>
                <a:latin typeface="Cambria"/>
              </a:rPr>
              <a:t>Recognise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749039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Identifies which of the 29 Arabic letters the child wrote, from a phone photo or scan of ruled paper.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2057400"/>
            <a:ext cx="3529584" cy="269748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99432" y="237744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2461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211C"/>
                </a:solidFill>
                <a:latin typeface="Cambria"/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749039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Returns a similarity score for the letter the child was ASKED to write — not merely the one the model liked best.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57400"/>
            <a:ext cx="3529584" cy="269748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39328" y="237744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2461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211C"/>
                </a:solidFill>
                <a:latin typeface="Cambria"/>
              </a:rPr>
              <a:t>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3749039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Prints actionable feedback for the child and a checklist for the parent or teacher: grip, baseline, height, stroke order, dots.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3892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A6E68"/>
                </a:solidFill>
                <a:latin typeface="Calibri"/>
              </a:rPr>
              <a:t>Grades: ≥ 85% Excellent · 65–84% Good · &lt; 65% Needs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The Hijja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Handwriting collected from Arabic-speaking school children in Riyadh, 2019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103120"/>
            <a:ext cx="2596896" cy="1572768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5528" y="23957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5042"/>
                </a:solidFill>
                <a:latin typeface="Cambria"/>
              </a:rPr>
              <a:t>47,434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540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2C28"/>
                </a:solidFill>
                <a:latin typeface="Calibri"/>
              </a:rPr>
              <a:t>characters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2103120"/>
            <a:ext cx="2596896" cy="1572768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9312" y="23957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5042"/>
                </a:solidFill>
                <a:latin typeface="Cambria"/>
              </a:rPr>
              <a:t>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0540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2C28"/>
                </a:solidFill>
                <a:latin typeface="Calibri"/>
              </a:rPr>
              <a:t>child writers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103120"/>
            <a:ext cx="2596896" cy="1572768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83096" y="23957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5042"/>
                </a:solidFill>
                <a:latin typeface="Cambria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30540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2C28"/>
                </a:solidFill>
                <a:latin typeface="Calibri"/>
              </a:rPr>
              <a:t>letter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103120"/>
            <a:ext cx="2596896" cy="1572768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0" y="23957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5042"/>
                </a:solidFill>
                <a:latin typeface="Cambria"/>
              </a:rPr>
              <a:t>7–12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0540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2C28"/>
                </a:solidFill>
                <a:latin typeface="Calibri"/>
              </a:rPr>
              <a:t>years 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4164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B211C"/>
                </a:solidFill>
                <a:latin typeface="Cambria"/>
              </a:rPr>
              <a:t>Why it is 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72000"/>
            <a:ext cx="5532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 i="0">
                <a:solidFill>
                  <a:srgbClr val="332C28"/>
                </a:solidFill>
                <a:latin typeface="Calibri"/>
              </a:rPr>
              <a:t>Strokes are only 1–2 pixels wide at 32×32, and anti-aliased.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 i="0">
                <a:solidFill>
                  <a:srgbClr val="332C28"/>
                </a:solidFill>
                <a:latin typeface="Calibri"/>
              </a:rPr>
              <a:t>Each class mixes isolated, initial, medial and final letter forms.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 i="0">
                <a:solidFill>
                  <a:srgbClr val="332C28"/>
                </a:solidFill>
                <a:latin typeface="Calibri"/>
              </a:rPr>
              <a:t>Children's letters vary wildly in size, slant and steadiness.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041648"/>
            <a:ext cx="5074920" cy="228600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0" y="43159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11C"/>
                </a:solidFill>
                <a:latin typeface="Cambria"/>
              </a:rPr>
              <a:t>Split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8280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85042"/>
                </a:solidFill>
                <a:latin typeface="Calibri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82803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34,139 (90%)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24865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85042"/>
                </a:solidFill>
                <a:latin typeface="Calibri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2486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3,794 (10%, stratified)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692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85042"/>
                </a:solidFill>
                <a:latin typeface="Calibri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6692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9,501 (held out, untouched)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29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28 letters in alphabetical order, plus hamza — many differ only by their dots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2057400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3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alef</a:t>
            </a:r>
          </a:p>
        </p:txBody>
      </p:sp>
      <p:sp>
        <p:nvSpPr>
          <p:cNvPr id="6" name="Oval 5"/>
          <p:cNvSpPr/>
          <p:nvPr/>
        </p:nvSpPr>
        <p:spPr>
          <a:xfrm>
            <a:off x="1655064" y="2057400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beh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2057400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teh</a:t>
            </a:r>
          </a:p>
        </p:txBody>
      </p:sp>
      <p:sp>
        <p:nvSpPr>
          <p:cNvPr id="10" name="Oval 9"/>
          <p:cNvSpPr/>
          <p:nvPr/>
        </p:nvSpPr>
        <p:spPr>
          <a:xfrm>
            <a:off x="3831335" y="2057400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theh</a:t>
            </a:r>
          </a:p>
        </p:txBody>
      </p:sp>
      <p:sp>
        <p:nvSpPr>
          <p:cNvPr id="12" name="Oval 11"/>
          <p:cNvSpPr/>
          <p:nvPr/>
        </p:nvSpPr>
        <p:spPr>
          <a:xfrm>
            <a:off x="4919472" y="2057400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jeem</a:t>
            </a:r>
          </a:p>
        </p:txBody>
      </p:sp>
      <p:sp>
        <p:nvSpPr>
          <p:cNvPr id="14" name="Oval 13"/>
          <p:cNvSpPr/>
          <p:nvPr/>
        </p:nvSpPr>
        <p:spPr>
          <a:xfrm>
            <a:off x="6007607" y="2057400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3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hah</a:t>
            </a:r>
          </a:p>
        </p:txBody>
      </p:sp>
      <p:sp>
        <p:nvSpPr>
          <p:cNvPr id="16" name="Oval 15"/>
          <p:cNvSpPr/>
          <p:nvPr/>
        </p:nvSpPr>
        <p:spPr>
          <a:xfrm>
            <a:off x="7095744" y="2057400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khah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2057400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5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dal</a:t>
            </a:r>
          </a:p>
        </p:txBody>
      </p:sp>
      <p:sp>
        <p:nvSpPr>
          <p:cNvPr id="20" name="Oval 19"/>
          <p:cNvSpPr/>
          <p:nvPr/>
        </p:nvSpPr>
        <p:spPr>
          <a:xfrm>
            <a:off x="9272015" y="2057400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thal</a:t>
            </a:r>
          </a:p>
        </p:txBody>
      </p:sp>
      <p:sp>
        <p:nvSpPr>
          <p:cNvPr id="22" name="Oval 21"/>
          <p:cNvSpPr/>
          <p:nvPr/>
        </p:nvSpPr>
        <p:spPr>
          <a:xfrm>
            <a:off x="10360151" y="2057400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7" y="2697480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reh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2990088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3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zain</a:t>
            </a:r>
          </a:p>
        </p:txBody>
      </p:sp>
      <p:sp>
        <p:nvSpPr>
          <p:cNvPr id="26" name="Oval 25"/>
          <p:cNvSpPr/>
          <p:nvPr/>
        </p:nvSpPr>
        <p:spPr>
          <a:xfrm>
            <a:off x="1655064" y="2990088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seen</a:t>
            </a:r>
          </a:p>
        </p:txBody>
      </p:sp>
      <p:sp>
        <p:nvSpPr>
          <p:cNvPr id="28" name="Oval 27"/>
          <p:cNvSpPr/>
          <p:nvPr/>
        </p:nvSpPr>
        <p:spPr>
          <a:xfrm>
            <a:off x="2743200" y="2990088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sheen</a:t>
            </a:r>
          </a:p>
        </p:txBody>
      </p:sp>
      <p:sp>
        <p:nvSpPr>
          <p:cNvPr id="30" name="Oval 29"/>
          <p:cNvSpPr/>
          <p:nvPr/>
        </p:nvSpPr>
        <p:spPr>
          <a:xfrm>
            <a:off x="3831335" y="2990088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1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sad</a:t>
            </a:r>
          </a:p>
        </p:txBody>
      </p:sp>
      <p:sp>
        <p:nvSpPr>
          <p:cNvPr id="32" name="Oval 31"/>
          <p:cNvSpPr/>
          <p:nvPr/>
        </p:nvSpPr>
        <p:spPr>
          <a:xfrm>
            <a:off x="4919472" y="2990088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dad</a:t>
            </a:r>
          </a:p>
        </p:txBody>
      </p:sp>
      <p:sp>
        <p:nvSpPr>
          <p:cNvPr id="34" name="Oval 33"/>
          <p:cNvSpPr/>
          <p:nvPr/>
        </p:nvSpPr>
        <p:spPr>
          <a:xfrm>
            <a:off x="6007607" y="2990088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303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tah</a:t>
            </a:r>
          </a:p>
        </p:txBody>
      </p:sp>
      <p:sp>
        <p:nvSpPr>
          <p:cNvPr id="36" name="Oval 35"/>
          <p:cNvSpPr/>
          <p:nvPr/>
        </p:nvSpPr>
        <p:spPr>
          <a:xfrm>
            <a:off x="7095744" y="2990088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zah</a:t>
            </a:r>
          </a:p>
        </p:txBody>
      </p:sp>
      <p:sp>
        <p:nvSpPr>
          <p:cNvPr id="38" name="Oval 37"/>
          <p:cNvSpPr/>
          <p:nvPr/>
        </p:nvSpPr>
        <p:spPr>
          <a:xfrm>
            <a:off x="8183879" y="2990088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5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ain</a:t>
            </a:r>
          </a:p>
        </p:txBody>
      </p:sp>
      <p:sp>
        <p:nvSpPr>
          <p:cNvPr id="40" name="Oval 39"/>
          <p:cNvSpPr/>
          <p:nvPr/>
        </p:nvSpPr>
        <p:spPr>
          <a:xfrm>
            <a:off x="9272015" y="2990088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1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ghain</a:t>
            </a:r>
          </a:p>
        </p:txBody>
      </p:sp>
      <p:sp>
        <p:nvSpPr>
          <p:cNvPr id="42" name="Oval 41"/>
          <p:cNvSpPr/>
          <p:nvPr/>
        </p:nvSpPr>
        <p:spPr>
          <a:xfrm>
            <a:off x="10360151" y="2990088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13847" y="3630168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feh</a:t>
            </a:r>
          </a:p>
        </p:txBody>
      </p:sp>
      <p:sp>
        <p:nvSpPr>
          <p:cNvPr id="44" name="Oval 43"/>
          <p:cNvSpPr/>
          <p:nvPr/>
        </p:nvSpPr>
        <p:spPr>
          <a:xfrm>
            <a:off x="566928" y="3922776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3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qaf</a:t>
            </a:r>
          </a:p>
        </p:txBody>
      </p:sp>
      <p:sp>
        <p:nvSpPr>
          <p:cNvPr id="46" name="Oval 45"/>
          <p:cNvSpPr/>
          <p:nvPr/>
        </p:nvSpPr>
        <p:spPr>
          <a:xfrm>
            <a:off x="1655064" y="3922776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kaf</a:t>
            </a:r>
          </a:p>
        </p:txBody>
      </p:sp>
      <p:sp>
        <p:nvSpPr>
          <p:cNvPr id="48" name="Oval 47"/>
          <p:cNvSpPr/>
          <p:nvPr/>
        </p:nvSpPr>
        <p:spPr>
          <a:xfrm>
            <a:off x="2743200" y="3922776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6896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lam</a:t>
            </a:r>
          </a:p>
        </p:txBody>
      </p:sp>
      <p:sp>
        <p:nvSpPr>
          <p:cNvPr id="50" name="Oval 49"/>
          <p:cNvSpPr/>
          <p:nvPr/>
        </p:nvSpPr>
        <p:spPr>
          <a:xfrm>
            <a:off x="3831335" y="3922776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5031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meem</a:t>
            </a:r>
          </a:p>
        </p:txBody>
      </p:sp>
      <p:sp>
        <p:nvSpPr>
          <p:cNvPr id="52" name="Oval 51"/>
          <p:cNvSpPr/>
          <p:nvPr/>
        </p:nvSpPr>
        <p:spPr>
          <a:xfrm>
            <a:off x="4919472" y="3922776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73168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noon</a:t>
            </a:r>
          </a:p>
        </p:txBody>
      </p:sp>
      <p:sp>
        <p:nvSpPr>
          <p:cNvPr id="54" name="Oval 53"/>
          <p:cNvSpPr/>
          <p:nvPr/>
        </p:nvSpPr>
        <p:spPr>
          <a:xfrm>
            <a:off x="6007607" y="3922776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61303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heh</a:t>
            </a:r>
          </a:p>
        </p:txBody>
      </p:sp>
      <p:sp>
        <p:nvSpPr>
          <p:cNvPr id="56" name="Oval 55"/>
          <p:cNvSpPr/>
          <p:nvPr/>
        </p:nvSpPr>
        <p:spPr>
          <a:xfrm>
            <a:off x="7095744" y="3922776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waw</a:t>
            </a:r>
          </a:p>
        </p:txBody>
      </p:sp>
      <p:sp>
        <p:nvSpPr>
          <p:cNvPr id="58" name="Oval 57"/>
          <p:cNvSpPr/>
          <p:nvPr/>
        </p:nvSpPr>
        <p:spPr>
          <a:xfrm>
            <a:off x="8183879" y="3922776"/>
            <a:ext cx="603504" cy="60350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7575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yeh</a:t>
            </a:r>
          </a:p>
        </p:txBody>
      </p:sp>
      <p:sp>
        <p:nvSpPr>
          <p:cNvPr id="60" name="Oval 59"/>
          <p:cNvSpPr/>
          <p:nvPr/>
        </p:nvSpPr>
        <p:spPr>
          <a:xfrm>
            <a:off x="9272015" y="3922776"/>
            <a:ext cx="603504" cy="603504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2B211C"/>
                </a:solidFill>
                <a:latin typeface="Calibri"/>
              </a:rPr>
              <a:t>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25711" y="4562856"/>
            <a:ext cx="896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7A6E68"/>
                </a:solidFill>
                <a:latin typeface="Calibri"/>
              </a:rPr>
              <a:t>hamza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5138928"/>
            <a:ext cx="11057839" cy="1024128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22960" y="5358384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91056" y="5358384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 i="0">
                <a:solidFill>
                  <a:srgbClr val="332C28"/>
                </a:solidFill>
                <a:latin typeface="Calibri"/>
              </a:rPr>
              <a:t>15 of the 29 letters are distinguished ONLY by dot count and position — ب one below, ت two above, ث three above. Losing a 2-pixel dot in preprocessing turns one letter into another.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Preprocessing a photo of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One shared entry point; the cleanup runs only where it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84831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2267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7860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Grayscale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62656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7A6E68"/>
                </a:solidFill>
                <a:latin typeface="Calibri"/>
              </a:rPr>
              <a:t>handle BGR / BGRA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584" y="2084831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32888" y="2267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57860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Denoise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962656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7A6E68"/>
                </a:solidFill>
                <a:latin typeface="Calibri"/>
              </a:rPr>
              <a:t>median + Gaussian 3×3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084831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52544" y="2267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57860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Flatten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962656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7A6E68"/>
                </a:solidFill>
                <a:latin typeface="Calibri"/>
              </a:rPr>
              <a:t>divide by blurred background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2084831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72200" y="2267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57860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Binarise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62656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7A6E68"/>
                </a:solidFill>
                <a:latin typeface="Calibri"/>
              </a:rPr>
              <a:t>Otsu + auto-invert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2084831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91856" y="2267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257860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Crop &amp;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962656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7A6E68"/>
                </a:solidFill>
                <a:latin typeface="Calibri"/>
              </a:rPr>
              <a:t>aspect kept, longest side 21 px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8" y="2084831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11512" y="2267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57860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Centre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962656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7A6E68"/>
                </a:solidFill>
                <a:latin typeface="Calibri"/>
              </a:rPr>
              <a:t>centre of mass</a:t>
            </a:r>
          </a:p>
        </p:txBody>
      </p:sp>
      <p:pic>
        <p:nvPicPr>
          <p:cNvPr id="28" name="Picture 27" descr="preprocessing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417" y="3794760"/>
            <a:ext cx="6880860" cy="1965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05332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7A6E68"/>
                </a:solidFill>
                <a:latin typeface="Calibri"/>
              </a:rPr>
              <a:t>Illumination flattening lifted IoU from 0.36 to 0.47 on shadowed photos; a polarity check prevents Otsu from splitting the paper when the letter is under 2% of the 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The finding that mattered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A7BEAE"/>
                </a:solidFill>
                <a:latin typeface="Calibri"/>
              </a:rPr>
              <a:t>Applying the photo pipeline to clean dataset images halved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148840"/>
            <a:ext cx="5257800" cy="3200400"/>
          </a:xfrm>
          <a:prstGeom prst="roundRect">
            <a:avLst>
              <a:gd name="adj" fmla="val 8000"/>
            </a:avLst>
          </a:prstGeom>
          <a:solidFill>
            <a:srgbClr val="3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45059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7E8D1"/>
                </a:solidFill>
                <a:latin typeface="Cambria"/>
              </a:rPr>
              <a:t>Raw dataset pixels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718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800" b="1" i="0">
                <a:solidFill>
                  <a:srgbClr val="A7BEAE"/>
                </a:solidFill>
                <a:latin typeface="Cambria"/>
              </a:rPr>
              <a:t>88.2%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11480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E7E8D1"/>
                </a:solidFill>
                <a:latin typeface="Calibri"/>
              </a:rPr>
              <a:t>Six epochs, no augmentation.</a:t>
            </a:r>
            <a:br/>
            <a:r>
              <a:rPr sz="1300" b="0" i="0">
                <a:solidFill>
                  <a:srgbClr val="E7E8D1"/>
                </a:solidFill>
                <a:latin typeface="Calibri"/>
              </a:rPr>
              <a:t>Strokes left untouched.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2148840"/>
            <a:ext cx="5257800" cy="3200400"/>
          </a:xfrm>
          <a:prstGeom prst="roundRect">
            <a:avLst>
              <a:gd name="adj" fmla="val 8000"/>
            </a:avLst>
          </a:prstGeom>
          <a:solidFill>
            <a:srgbClr val="3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48272" y="245059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7E8D1"/>
                </a:solidFill>
                <a:latin typeface="Cambria"/>
              </a:rPr>
              <a:t>Forced through the photo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9718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800" b="1" i="0">
                <a:solidFill>
                  <a:srgbClr val="B85042"/>
                </a:solidFill>
                <a:latin typeface="Cambria"/>
              </a:rPr>
              <a:t>43.1%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411480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E7E8D1"/>
                </a:solidFill>
                <a:latin typeface="Calibri"/>
              </a:rPr>
              <a:t>Identical model, seed and split.</a:t>
            </a:r>
            <a:br/>
            <a:r>
              <a:rPr sz="1300" b="0" i="0">
                <a:solidFill>
                  <a:srgbClr val="E7E8D1"/>
                </a:solidFill>
                <a:latin typeface="Calibri"/>
              </a:rPr>
              <a:t>Only the pixels differed.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23560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Why: Otsu promotes every faint anti-aliased edge pixel to solid ink, taking an image from 90 ink pixels to 222 — thin letters become blobs. Re-scaling and re-centring then discard size and baseline position.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 i="0">
                <a:solidFill>
                  <a:srgbClr val="A7BEAE"/>
                </a:solidFill>
                <a:latin typeface="Calibri"/>
              </a:rPr>
              <a:t>Fix: dataset rows pass through untouched; photos are normalised to match THEM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From 4.6% to 92.78%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Three separate faults, found by controlled experiment rather than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SYMPTOM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8648" y="201168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4848" y="20116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0967" y="2011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95728"/>
            <a:ext cx="11057839" cy="96012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57860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Validation stuck at 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578608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332C28"/>
                </a:solidFill>
                <a:latin typeface="Calibri"/>
              </a:rPr>
              <a:t>BatchNorm running statistics have not converged in epoch 1, so validation scores near-random while training is already at 33%.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2578608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332C28"/>
                </a:solidFill>
                <a:latin typeface="Calibri"/>
              </a:rPr>
              <a:t>Read the curve from epoch 3 onward — the model corrects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5248" y="274320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800" b="1" i="0">
                <a:solidFill>
                  <a:srgbClr val="B85042"/>
                </a:solidFill>
                <a:latin typeface="Cambria"/>
              </a:rPr>
              <a:t>78.4%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65576"/>
            <a:ext cx="11057839" cy="96012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3648456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Accuracy capped near 43%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3648456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332C28"/>
                </a:solidFill>
                <a:latin typeface="Calibri"/>
              </a:rPr>
              <a:t>The photo pipeline was forced onto clean dataset glyphs. Otsu turned 1–2 px anti-aliased strokes into blobs: 90 ink pixels became 222.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3648456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332C28"/>
                </a:solidFill>
                <a:latin typeface="Calibri"/>
              </a:rPr>
              <a:t>Clean-glyph fast path — dataset rows pass through untouched.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381304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800" b="1" i="0">
                <a:solidFill>
                  <a:srgbClr val="B85042"/>
                </a:solidFill>
                <a:latin typeface="Cambria"/>
              </a:rPr>
              <a:t>88.2%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35424"/>
            <a:ext cx="11057839" cy="96012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8096" y="471830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B211C"/>
                </a:solidFill>
                <a:latin typeface="Cambria"/>
              </a:rPr>
              <a:t>Photos did not match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9816" y="4718304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332C28"/>
                </a:solidFill>
                <a:latin typeface="Calibri"/>
              </a:rPr>
              <a:t>Scanned letters were normalised to a 24 px box, but real Hijja glyphs average 20.9 px.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718304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332C28"/>
                </a:solidFill>
                <a:latin typeface="Calibri"/>
              </a:rPr>
              <a:t>INK_BOX = 21 px, so a photo lands in the distribution the model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5248" y="488289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800" b="1" i="0">
                <a:solidFill>
                  <a:srgbClr val="B85042"/>
                </a:solidFill>
                <a:latin typeface="Cambria"/>
              </a:rPr>
              <a:t>92.8%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7A6E68"/>
                </a:solidFill>
                <a:latin typeface="Calibri"/>
              </a:rPr>
              <a:t>Each row was isolated by re-running the same model, seed and split and changing one thing — the pixels, not the hyper-parameters.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A feature extractor and a classifier, deliberately kept separate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29968"/>
            <a:ext cx="8092440" cy="6035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Block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22037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alibri"/>
              </a:rPr>
              <a:t>Conv 32 ×2 → BN → ReLU → MaxPool → Dropout 0.15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22037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32×32 → 16×16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06624"/>
            <a:ext cx="8092440" cy="6035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880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Block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8803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alibri"/>
              </a:rPr>
              <a:t>Conv 64 ×2 → BN → ReLU → MaxPool → Dropout 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8803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16×16 → 8×8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80"/>
            <a:ext cx="8092440" cy="6035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5570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Block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35570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alibri"/>
              </a:rPr>
              <a:t>Conv 128 ×2 → BN → ReLU → MaxPool → Dropout 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55701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8×8 → 4×4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59936"/>
            <a:ext cx="8092440" cy="603504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4233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42336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alibri"/>
              </a:rPr>
              <a:t>Flatten — the transfer-learning handle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2336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2,048-d vector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8092440" cy="6035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4910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49103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alibri"/>
              </a:rPr>
              <a:t>Dense 256 → BN → ReLU → Dropout 0.40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91032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256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13248"/>
            <a:ext cx="8092440" cy="603504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55869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55869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alibri"/>
              </a:rPr>
              <a:t>Dense 29 → softmax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558698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29 classes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029968"/>
            <a:ext cx="2633472" cy="219456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35440" y="233172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2,048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035808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E7E8D1"/>
                </a:solidFill>
                <a:latin typeface="Calibri"/>
              </a:rPr>
              <a:t>dimensions in the</a:t>
            </a:r>
            <a:br/>
            <a:r>
              <a:rPr sz="1200" b="0" i="0">
                <a:solidFill>
                  <a:srgbClr val="E7E8D1"/>
                </a:solidFill>
                <a:latin typeface="Calibri"/>
              </a:rPr>
              <a:t>extracted feature</a:t>
            </a:r>
            <a:br/>
            <a:r>
              <a:rPr sz="1200" b="0" i="0">
                <a:solidFill>
                  <a:srgbClr val="E7E8D1"/>
                </a:solidFill>
                <a:latin typeface="Calibri"/>
              </a:rPr>
              <a:t>vector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4370832"/>
            <a:ext cx="2633472" cy="173736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235440" y="4645152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B211C"/>
                </a:solidFill>
                <a:latin typeface="Cambria"/>
              </a:rPr>
              <a:t>819k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28523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7A6E68"/>
                </a:solidFill>
                <a:latin typeface="Calibri"/>
              </a:rPr>
              <a:t>trainable parameters</a:t>
            </a:r>
            <a:br/>
            <a:r>
              <a:rPr sz="1200" b="0" i="0">
                <a:solidFill>
                  <a:srgbClr val="7A6E68"/>
                </a:solidFill>
                <a:latin typeface="Calibri"/>
              </a:rPr>
              <a:t>— runs on CPU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30 epochs, batch 128, Adam 1e-3, light augmentation only</a:t>
            </a:r>
          </a:p>
        </p:txBody>
      </p:sp>
      <p:pic>
        <p:nvPicPr>
          <p:cNvPr id="4" name="Picture 3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1680"/>
            <a:ext cx="7772400" cy="298938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2011680"/>
            <a:ext cx="3044952" cy="196596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51392" y="224942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11C"/>
                </a:solidFill>
                <a:latin typeface="Cambria"/>
              </a:rPr>
              <a:t>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1392" y="2688336"/>
            <a:ext cx="2606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Rotation ±8°, shift 6%, zoom 5%.</a:t>
            </a:r>
            <a:br/>
            <a:r>
              <a:rPr sz="1150" b="0" i="0">
                <a:solidFill>
                  <a:srgbClr val="332C28"/>
                </a:solidFill>
                <a:latin typeface="Calibri"/>
              </a:rPr>
              <a:t>No flips, no shear — a mirrored</a:t>
            </a:r>
            <a:br/>
            <a:r>
              <a:rPr sz="1150" b="0" i="0">
                <a:solidFill>
                  <a:srgbClr val="332C28"/>
                </a:solidFill>
                <a:latin typeface="Calibri"/>
              </a:rPr>
              <a:t>Arabic letter is a wrong letter.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4114800"/>
            <a:ext cx="3044952" cy="219456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51392" y="43525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11C"/>
                </a:solidFill>
                <a:latin typeface="Cambria"/>
              </a:rPr>
              <a:t>Callbacks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4773168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ModelCheckpoint on val accuracy</a:t>
            </a:r>
            <a:br/>
            <a:r>
              <a:rPr sz="1150" b="0" i="0">
                <a:solidFill>
                  <a:srgbClr val="332C28"/>
                </a:solidFill>
                <a:latin typeface="Calibri"/>
              </a:rPr>
              <a:t>EarlyStopping, patience 7</a:t>
            </a:r>
            <a:br/>
            <a:r>
              <a:rPr sz="1150" b="0" i="0">
                <a:solidFill>
                  <a:srgbClr val="332C28"/>
                </a:solidFill>
                <a:latin typeface="Calibri"/>
              </a:rPr>
              <a:t>ReduceLROnPlateau ×0.5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533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1">
                <a:solidFill>
                  <a:srgbClr val="7A6E68"/>
                </a:solidFill>
                <a:latin typeface="Calibri"/>
              </a:rPr>
              <a:t>Ignore the first two epochs: BatchNorm running statistics have not converged, so validation accuracy reads near-random (4.9%) while training accuracy is already 33%.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Results on the held-out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9,501 characters the model never saw during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75104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B85042"/>
                </a:solidFill>
                <a:latin typeface="Cambria"/>
              </a:rPr>
              <a:t>92.78%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test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648" y="1975104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2B211C"/>
                </a:solidFill>
                <a:latin typeface="Cambria"/>
              </a:rPr>
              <a:t>92.32%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macro-average per 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975104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2B211C"/>
                </a:solidFill>
                <a:latin typeface="Cambria"/>
              </a:rPr>
              <a:t>0.234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A6E68"/>
                </a:solidFill>
                <a:latin typeface="Calibri"/>
              </a:rPr>
              <a:t>test loss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66928" y="3200400"/>
          <a:ext cx="11057839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Where it still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Almost every remaining error is a dot, not a shape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01952"/>
            <a:ext cx="5179162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2011680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31520" y="2130552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1396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211C"/>
                </a:solidFill>
                <a:latin typeface="Cambria"/>
              </a:rPr>
              <a:t>thal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41401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confused with ن — 13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212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B85042"/>
                </a:solidFill>
                <a:latin typeface="Calibri"/>
              </a:rPr>
              <a:t>80.7%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52928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31520" y="297180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9809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211C"/>
                </a:solidFill>
                <a:latin typeface="Cambria"/>
              </a:rPr>
              <a:t>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255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confused with ل — 12 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054096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B85042"/>
                </a:solidFill>
                <a:latin typeface="Calibri"/>
              </a:rPr>
              <a:t>82.0%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94176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31520" y="3813048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221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211C"/>
                </a:solidFill>
                <a:latin typeface="Cambria"/>
              </a:rPr>
              <a:t>feh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65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confused with ق — one dot apart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89534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B85042"/>
                </a:solidFill>
                <a:latin typeface="Calibri"/>
              </a:rPr>
              <a:t>87.0%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35424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31520" y="4654296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63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211C"/>
                </a:solidFill>
                <a:latin typeface="Cambria"/>
              </a:rPr>
              <a:t>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493776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confused with ح — the dot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736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B85042"/>
                </a:solidFill>
                <a:latin typeface="Calibri"/>
              </a:rPr>
              <a:t>87.1%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76672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31520" y="5495544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5504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211C"/>
                </a:solidFill>
                <a:latin typeface="Cambria"/>
              </a:rPr>
              <a:t>ghain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577900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confused with ف — 20 times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557784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B85042"/>
                </a:solidFill>
                <a:latin typeface="Calibri"/>
              </a:rPr>
              <a:t>87.5%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27278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332C28"/>
                </a:solidFill>
                <a:latin typeface="Calibri"/>
              </a:rPr>
              <a:t>د ↔ ذ and ع ↔ غ differ by a single dot.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B211C"/>
                </a:solidFill>
                <a:latin typeface="Cambria"/>
              </a:rPr>
              <a:t>The 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A6E68"/>
                </a:solidFill>
                <a:latin typeface="Calibri"/>
              </a:rPr>
              <a:t>What a child and a teacher actually receive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11680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68096" y="2212848"/>
            <a:ext cx="640080" cy="640080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B211C"/>
                </a:solidFill>
                <a:latin typeface="Calibri"/>
              </a:rPr>
              <a:t>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9343" y="22494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211C"/>
                </a:solidFill>
                <a:latin typeface="Cambria"/>
              </a:rPr>
              <a:t>Excellent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3" y="26334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clear and well formed — move on to the joined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331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≥ 85%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82112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3383280"/>
            <a:ext cx="640080" cy="640080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B211C"/>
                </a:solidFill>
                <a:latin typeface="Calibri"/>
              </a:rPr>
              <a:t>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3" y="34198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211C"/>
                </a:solidFill>
                <a:latin typeface="Cambria"/>
              </a:rPr>
              <a:t>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3" y="38039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readable — tidy the baseline and smooth the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5021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65–84%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52544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68096" y="4553712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3" y="45902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211C"/>
                </a:solidFill>
                <a:latin typeface="Cambria"/>
              </a:rPr>
              <a:t>Needs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3" y="4974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A6E68"/>
                </a:solidFill>
                <a:latin typeface="Calibri"/>
              </a:rPr>
              <a:t>revisit grip, stroke order and the dots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67258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&lt; 65%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011680"/>
            <a:ext cx="5650992" cy="3950208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0936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11C"/>
                </a:solidFill>
                <a:latin typeface="Cambria"/>
              </a:rPr>
              <a:t>Sample report — target ب (beh)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332C28"/>
                </a:solidFill>
                <a:latin typeface="Courier New"/>
              </a:rPr>
              <a:t>Recognised:  ن (noon)      Similarity: 15.0%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ourier New"/>
              </a:rPr>
              <a:t>Grade: Needs Improvement ✏️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 i="0">
                <a:solidFill>
                  <a:srgbClr val="332C2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For the child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Hold the pencil with THREE fingers. Start from the RIGHT, write the body in one stroke, add the dots LAST. ب takes ONE dot BELOW.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2B211C"/>
                </a:solidFill>
                <a:latin typeface="Calibri"/>
              </a:rPr>
              <a:t>For the parent / teacher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332C28"/>
                </a:solidFill>
                <a:latin typeface="Calibri"/>
              </a:rPr>
              <a:t>Check grip, baseline, letter height, stroke order, and dot count. Look-alike family: ب ت ث ن ي.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A7BEAE"/>
                </a:solidFill>
                <a:latin typeface="Calibri"/>
              </a:rPr>
              <a:t>Verified on this machine, CPU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A7BEAE"/>
                </a:solidFill>
                <a:latin typeface="Cambria"/>
              </a:rPr>
              <a:t>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5257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92.93% test accuracy across 29 classes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One self-contained script, CPU only, ~50 s per epoch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Photo scoring with child and teacher feedback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Pipeline tested against shadowed, tilted and blurred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B85042"/>
                </a:solidFill>
                <a:latin typeface="Cambria"/>
              </a:rPr>
              <a:t>Honest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06040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The score is raw softmax confidence, not a calibrated similarity — a confident but malformed letter can still score highly.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The photo branch is validated on synthetic photos; it needs calibrating against real ink on real paper.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 i="0">
                <a:solidFill>
                  <a:srgbClr val="E7E8D1"/>
                </a:solidFill>
                <a:latin typeface="Calibri"/>
              </a:rPr>
              <a:t>Hijja mixes letter forms per class, which caps what 29-way accuracy can mean.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029200"/>
            <a:ext cx="11057839" cy="960120"/>
          </a:xfrm>
          <a:prstGeom prst="roundRect">
            <a:avLst>
              <a:gd name="adj" fmla="val 8000"/>
            </a:avLst>
          </a:prstGeom>
          <a:solidFill>
            <a:srgbClr val="3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41247" y="5230368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5294376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E7E8D1"/>
                </a:solidFill>
                <a:latin typeface="Calibri"/>
              </a:rPr>
              <a:t>Next: calibrate confidence on the validation set, and tune the photo branch against photographs of real children's handwriting.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